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 (Activity Based Lesson) — Earth, Moon and the Sun. NCERT Science Grade 7, Chapter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Q01: B) About 24 hours   |   Q02: C) The Earth rotates from west to east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Q03: B) The 23.5° tilt of Earth’s axis   |   Q04: C) It reflects light from the Sun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Q05: C) The Moon   |   Q06: B) A lunar eclipse is safe to watch directly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" Target="slide15.xml"/><Relationship Id="rId3" Type="http://schemas.openxmlformats.org/officeDocument/2006/relationships/slide" Target="slide16.xml"/><Relationship Id="rId4" Type="http://schemas.openxmlformats.org/officeDocument/2006/relationships/slide" Target="slide16.xml"/><Relationship Id="rId5" Type="http://schemas.openxmlformats.org/officeDocument/2006/relationships/slide" Target="slide17.xml"/><Relationship Id="rId6" Type="http://schemas.openxmlformats.org/officeDocument/2006/relationships/slide" Target="slide17.xml"/><Relationship Id="rId7" Type="http://schemas.openxmlformats.org/officeDocument/2006/relationships/slide" Target="slide18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19.xml"/><Relationship Id="rId11" Type="http://schemas.openxmlformats.org/officeDocument/2006/relationships/slide" Target="slide20.xml"/><Relationship Id="rId12" Type="http://schemas.openxmlformats.org/officeDocument/2006/relationships/slide" Target="slide20.xml"/><Relationship Id="rId13" Type="http://schemas.openxmlformats.org/officeDocument/2006/relationships/slide" Target="slide21.xml"/><Relationship Id="rId14" Type="http://schemas.openxmlformats.org/officeDocument/2006/relationships/slide" Target="slide21.xml"/><Relationship Id="rId15" Type="http://schemas.openxmlformats.org/officeDocument/2006/relationships/slide" Target="slide22.xml"/><Relationship Id="rId16" Type="http://schemas.openxmlformats.org/officeDocument/2006/relationships/slide" Target="slide22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3.xml"/><Relationship Id="rId2" Type="http://schemas.openxmlformats.org/officeDocument/2006/relationships/slide" Target="slide23.xml"/><Relationship Id="rId3" Type="http://schemas.openxmlformats.org/officeDocument/2006/relationships/slide" Target="slide24.xml"/><Relationship Id="rId4" Type="http://schemas.openxmlformats.org/officeDocument/2006/relationships/slide" Target="slide24.xml"/><Relationship Id="rId5" Type="http://schemas.openxmlformats.org/officeDocument/2006/relationships/slide" Target="slide25.xml"/><Relationship Id="rId6" Type="http://schemas.openxmlformats.org/officeDocument/2006/relationships/slide" Target="slide25.xml"/><Relationship Id="rId7" Type="http://schemas.openxmlformats.org/officeDocument/2006/relationships/slide" Target="slide26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27.xml"/><Relationship Id="rId11" Type="http://schemas.openxmlformats.org/officeDocument/2006/relationships/slide" Target="slide28.xml"/><Relationship Id="rId12" Type="http://schemas.openxmlformats.org/officeDocument/2006/relationships/slide" Target="slide28.xml"/><Relationship Id="rId13" Type="http://schemas.openxmlformats.org/officeDocument/2006/relationships/slide" Target="slide29.xml"/><Relationship Id="rId14" Type="http://schemas.openxmlformats.org/officeDocument/2006/relationships/slide" Target="slide29.xml"/><Relationship Id="rId15" Type="http://schemas.openxmlformats.org/officeDocument/2006/relationships/slide" Target="slide30.xml"/><Relationship Id="rId16" Type="http://schemas.openxmlformats.org/officeDocument/2006/relationships/slide" Target="slide30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1.xml"/><Relationship Id="rId3" Type="http://schemas.openxmlformats.org/officeDocument/2006/relationships/slide" Target="slide32.xml"/><Relationship Id="rId4" Type="http://schemas.openxmlformats.org/officeDocument/2006/relationships/slide" Target="slide32.xml"/><Relationship Id="rId5" Type="http://schemas.openxmlformats.org/officeDocument/2006/relationships/slide" Target="slide33.xml"/><Relationship Id="rId6" Type="http://schemas.openxmlformats.org/officeDocument/2006/relationships/slide" Target="slide33.xml"/><Relationship Id="rId7" Type="http://schemas.openxmlformats.org/officeDocument/2006/relationships/slide" Target="slide34.xml"/><Relationship Id="rId8" Type="http://schemas.openxmlformats.org/officeDocument/2006/relationships/slide" Target="slide34.xml"/><Relationship Id="rId9" Type="http://schemas.openxmlformats.org/officeDocument/2006/relationships/slide" Target="slide35.xml"/><Relationship Id="rId10" Type="http://schemas.openxmlformats.org/officeDocument/2006/relationships/slide" Target="slide35.xml"/><Relationship Id="rId11" Type="http://schemas.openxmlformats.org/officeDocument/2006/relationships/slide" Target="slide36.xml"/><Relationship Id="rId12" Type="http://schemas.openxmlformats.org/officeDocument/2006/relationships/slide" Target="slide36.xml"/><Relationship Id="rId13" Type="http://schemas.openxmlformats.org/officeDocument/2006/relationships/slide" Target="slide37.xml"/><Relationship Id="rId14" Type="http://schemas.openxmlformats.org/officeDocument/2006/relationships/slide" Target="slide37.xml"/><Relationship Id="rId15" Type="http://schemas.openxmlformats.org/officeDocument/2006/relationships/slide" Target="slide38.xml"/><Relationship Id="rId16" Type="http://schemas.openxmlformats.org/officeDocument/2006/relationships/slide" Target="slide38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" Target="slide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" Target="slide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" Target="slide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" Target="slide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" Target="slide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" Target="slide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" Target="slide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" Target="slide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27425" y="960120"/>
            <a:ext cx="4937760" cy="4937760"/>
          </a:xfrm>
          <a:prstGeom prst="ellipse">
            <a:avLst/>
          </a:prstGeom>
          <a:solidFill>
            <a:srgbClr val="080B14">
              <a:alpha val="0"/>
            </a:srgbClr>
          </a:solidFill>
          <a:ln w="12700">
            <a:solidFill>
              <a:srgbClr val="2A2F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95905" y="228600"/>
            <a:ext cx="6400800" cy="6400800"/>
          </a:xfrm>
          <a:prstGeom prst="ellipse">
            <a:avLst/>
          </a:prstGeom>
          <a:solidFill>
            <a:srgbClr val="080B14">
              <a:alpha val="0"/>
            </a:srgbClr>
          </a:solidFill>
          <a:ln w="12700">
            <a:solidFill>
              <a:srgbClr val="1E23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14009" y="877824"/>
            <a:ext cx="164592" cy="164592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2297" y="6565392"/>
            <a:ext cx="128016" cy="128016"/>
          </a:xfrm>
          <a:prstGeom prst="ellipse">
            <a:avLst/>
          </a:prstGeom>
          <a:solidFill>
            <a:srgbClr val="E8E4D8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17830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NCERT SCIENCE · GRADE 7 · CHAPTER 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2148840"/>
            <a:ext cx="1109167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56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Earth, </a:t>
            </a:r>
            <a:pPr algn="ctr" indent="0" marL="0">
              <a:lnSpc>
                <a:spcPct val="98000"/>
              </a:lnSpc>
              <a:buNone/>
            </a:pPr>
            <a:r>
              <a:rPr lang="en-US" sz="5600" b="1" dirty="0">
                <a:solidFill>
                  <a:srgbClr val="E8E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Moon</a:t>
            </a:r>
            <a:pPr algn="ctr" indent="0" marL="0">
              <a:lnSpc>
                <a:spcPct val="98000"/>
              </a:lnSpc>
              <a:buNone/>
            </a:pPr>
            <a:r>
              <a:rPr lang="en-US" sz="56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&amp;</a:t>
            </a:r>
            <a:endParaRPr lang="en-US" sz="56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56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</a:t>
            </a:r>
            <a:pPr algn="ctr" indent="0" marL="0">
              <a:lnSpc>
                <a:spcPct val="98000"/>
              </a:lnSpc>
              <a:buNone/>
            </a:pPr>
            <a:r>
              <a:rPr lang="en-US" sz="56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Sun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548640" y="4224528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</a:t>
            </a:r>
            <a:pPr algn="ctr" indent="0" marL="0">
              <a:buNone/>
            </a:pPr>
            <a:r>
              <a:rPr lang="en-US" sz="170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</a:t>
            </a:r>
            <a:pPr algn="ctr" indent="0" marL="0">
              <a:buNone/>
            </a:pPr>
            <a:r>
              <a:rPr lang="en-US" sz="17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Activity Based Lesson</a:t>
            </a:r>
            <a:pPr algn="ctr" indent="0" marL="0">
              <a:buNone/>
            </a:pPr>
            <a:r>
              <a:rPr lang="en-US" sz="170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48640" y="489204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50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  ·   REVOLVE   ·   SHINE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02920" cy="310896"/>
          </a:xfrm>
          <a:prstGeom prst="roundRect">
            <a:avLst>
              <a:gd name="adj" fmla="val 41176"/>
            </a:avLst>
          </a:prstGeom>
          <a:solidFill>
            <a:srgbClr val="0D1220"/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70432" y="539496"/>
            <a:ext cx="219456" cy="914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81328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COSMIC NEIGHBOURHOOD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Sun — our </a:t>
            </a:r>
            <a:pPr indent="0" marL="0">
              <a:buNone/>
            </a:pPr>
            <a:r>
              <a:rPr lang="en-US" sz="29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nearest star</a:t>
            </a:r>
            <a:endParaRPr lang="en-US" sz="2900" dirty="0"/>
          </a:p>
        </p:txBody>
      </p:sp>
      <p:sp>
        <p:nvSpPr>
          <p:cNvPr id="18" name="Shape 16"/>
          <p:cNvSpPr/>
          <p:nvPr/>
        </p:nvSpPr>
        <p:spPr>
          <a:xfrm>
            <a:off x="6537960" y="1600200"/>
            <a:ext cx="5074920" cy="4434840"/>
          </a:xfrm>
          <a:prstGeom prst="roundRect">
            <a:avLst>
              <a:gd name="adj" fmla="val 3299"/>
            </a:avLst>
          </a:prstGeom>
          <a:solidFill>
            <a:srgbClr val="0D1220"/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64140" y="3817620"/>
            <a:ext cx="274320" cy="914"/>
          </a:xfrm>
          <a:prstGeom prst="line">
            <a:avLst/>
          </a:prstGeom>
          <a:noFill/>
          <a:ln w="31750">
            <a:solidFill>
              <a:srgbClr val="FFB34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15972" y="4658172"/>
            <a:ext cx="193974" cy="193974"/>
          </a:xfrm>
          <a:prstGeom prst="line">
            <a:avLst/>
          </a:prstGeom>
          <a:noFill/>
          <a:ln w="31750">
            <a:solidFill>
              <a:srgbClr val="FFB34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75420" y="5006340"/>
            <a:ext cx="914" cy="274320"/>
          </a:xfrm>
          <a:prstGeom prst="line">
            <a:avLst/>
          </a:prstGeom>
          <a:noFill/>
          <a:ln w="31750">
            <a:solidFill>
              <a:srgbClr val="FFB34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8040894" y="4658172"/>
            <a:ext cx="193974" cy="193974"/>
          </a:xfrm>
          <a:prstGeom prst="line">
            <a:avLst/>
          </a:prstGeom>
          <a:noFill/>
          <a:ln w="31750">
            <a:solidFill>
              <a:srgbClr val="FFB34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12380" y="3817620"/>
            <a:ext cx="274320" cy="914"/>
          </a:xfrm>
          <a:prstGeom prst="line">
            <a:avLst/>
          </a:prstGeom>
          <a:noFill/>
          <a:ln w="31750">
            <a:solidFill>
              <a:srgbClr val="FFB34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8040894" y="2783094"/>
            <a:ext cx="193974" cy="193974"/>
          </a:xfrm>
          <a:prstGeom prst="line">
            <a:avLst/>
          </a:prstGeom>
          <a:noFill/>
          <a:ln w="31750">
            <a:solidFill>
              <a:srgbClr val="FFB34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9075420" y="2354580"/>
            <a:ext cx="914" cy="274320"/>
          </a:xfrm>
          <a:prstGeom prst="line">
            <a:avLst/>
          </a:prstGeom>
          <a:noFill/>
          <a:ln w="31750">
            <a:solidFill>
              <a:srgbClr val="FFB34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9915972" y="2783094"/>
            <a:ext cx="193974" cy="193974"/>
          </a:xfrm>
          <a:prstGeom prst="line">
            <a:avLst/>
          </a:prstGeom>
          <a:noFill/>
          <a:ln w="31750">
            <a:solidFill>
              <a:srgbClr val="FFB34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51292" y="2793492"/>
            <a:ext cx="2048256" cy="2048256"/>
          </a:xfrm>
          <a:prstGeom prst="ellipse">
            <a:avLst/>
          </a:prstGeom>
          <a:solidFill>
            <a:srgbClr val="FFB347"/>
          </a:solidFill>
          <a:ln w="25400">
            <a:solidFill>
              <a:srgbClr val="FF7A2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18220" y="3360420"/>
            <a:ext cx="914400" cy="914400"/>
          </a:xfrm>
          <a:prstGeom prst="ellipse">
            <a:avLst/>
          </a:prstGeom>
          <a:solidFill>
            <a:srgbClr val="FFE29A">
              <a:alpha val="70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91372" y="3479292"/>
            <a:ext cx="219456" cy="219456"/>
          </a:xfrm>
          <a:prstGeom prst="ellipse">
            <a:avLst/>
          </a:prstGeom>
          <a:solidFill>
            <a:srgbClr val="FF7A2F">
              <a:alpha val="70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12580" y="3909060"/>
            <a:ext cx="274320" cy="274320"/>
          </a:xfrm>
          <a:prstGeom prst="ellipse">
            <a:avLst/>
          </a:prstGeom>
          <a:solidFill>
            <a:srgbClr val="FF7A2F">
              <a:alpha val="70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93708" y="3396996"/>
            <a:ext cx="146304" cy="146304"/>
          </a:xfrm>
          <a:prstGeom prst="ellipse">
            <a:avLst/>
          </a:prstGeom>
          <a:solidFill>
            <a:srgbClr val="FF7A2F">
              <a:alpha val="70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37960" y="6089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5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— OUR STAR AT THE CENTRE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48640" y="1691640"/>
            <a:ext cx="5715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giant ball of glowing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gases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mainly hydrogen and helium — that gives out its own light and heat.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about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million km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away from Earth — the light you see left it about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ago.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lakh Earths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could fit inside the Sun. It is the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our solar system.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life on Earth depends on its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for warmth, light, food and weather.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074920"/>
            <a:ext cx="5715000" cy="1143000"/>
          </a:xfrm>
          <a:prstGeom prst="roundRect">
            <a:avLst>
              <a:gd name="adj" fmla="val 9600"/>
            </a:avLst>
          </a:prstGeom>
          <a:solidFill>
            <a:srgbClr val="0D1220">
              <a:alpha val="80000"/>
            </a:srgbClr>
          </a:solidFill>
          <a:ln w="15875">
            <a:solidFill>
              <a:srgbClr val="3E8A82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713232" y="5230368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5FD4C4"/>
          </a:solidFill>
          <a:ln>
            <a:solidFill>
              <a:srgbClr val="5FD4C4">
                <a:alpha val="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 FACT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783080" y="5193792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makes up about 99.8% of all the mass in our solar system — Earth and everything else is just the leftover 0.2%!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02920" cy="310896"/>
          </a:xfrm>
          <a:prstGeom prst="roundRect">
            <a:avLst>
              <a:gd name="adj" fmla="val 41176"/>
            </a:avLst>
          </a:prstGeom>
          <a:solidFill>
            <a:srgbClr val="0D1220"/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70432" y="539496"/>
            <a:ext cx="219456" cy="914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81328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OF THE EARTH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Rotation — </a:t>
            </a:r>
            <a:pPr indent="0" marL="0">
              <a:buNone/>
            </a:pPr>
            <a:r>
              <a:rPr lang="en-US" sz="29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and night</a:t>
            </a:r>
            <a:endParaRPr lang="en-US" sz="2900" dirty="0"/>
          </a:p>
        </p:txBody>
      </p:sp>
      <p:sp>
        <p:nvSpPr>
          <p:cNvPr id="18" name="Shape 16"/>
          <p:cNvSpPr/>
          <p:nvPr/>
        </p:nvSpPr>
        <p:spPr>
          <a:xfrm>
            <a:off x="6537960" y="1600200"/>
            <a:ext cx="5074920" cy="4434840"/>
          </a:xfrm>
          <a:prstGeom prst="roundRect">
            <a:avLst>
              <a:gd name="adj" fmla="val 3299"/>
            </a:avLst>
          </a:prstGeom>
          <a:solidFill>
            <a:srgbClr val="0D1220"/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38060" y="3497580"/>
            <a:ext cx="822960" cy="64008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38060" y="3707892"/>
            <a:ext cx="822960" cy="27432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338060" y="3899916"/>
            <a:ext cx="822960" cy="27432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338060" y="4073652"/>
            <a:ext cx="822960" cy="64008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46036" y="3698748"/>
            <a:ext cx="237744" cy="237744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80860" y="427482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SUNLIGHT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435340" y="2857500"/>
            <a:ext cx="1920240" cy="1920240"/>
          </a:xfrm>
          <a:prstGeom prst="ellipse">
            <a:avLst/>
          </a:prstGeom>
          <a:solidFill>
            <a:srgbClr val="1E5C8A"/>
          </a:solidFill>
          <a:ln w="19050">
            <a:solidFill>
              <a:srgbClr val="5FD4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35340" y="2857500"/>
            <a:ext cx="1920240" cy="192024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A0F1C"/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83980" y="2948940"/>
            <a:ext cx="822960" cy="1737360"/>
          </a:xfrm>
          <a:prstGeom prst="line">
            <a:avLst/>
          </a:prstGeom>
          <a:noFill/>
          <a:ln w="19050">
            <a:solidFill>
              <a:srgbClr val="F4EEE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938260" y="2903220"/>
            <a:ext cx="91440" cy="91440"/>
          </a:xfrm>
          <a:prstGeom prst="ellipse">
            <a:avLst/>
          </a:prstGeom>
          <a:solidFill>
            <a:srgbClr val="F4EEE0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61220" y="4640580"/>
            <a:ext cx="91440" cy="91440"/>
          </a:xfrm>
          <a:prstGeom prst="ellipse">
            <a:avLst/>
          </a:prstGeom>
          <a:solidFill>
            <a:srgbClr val="F4EEE0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28532" y="2647188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852660" y="473202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80860" y="52806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 HOURS · WEST → EAST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537960" y="6089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5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— ONE SPIN, ONE DAY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48640" y="1691640"/>
            <a:ext cx="5715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spins on its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to east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this is called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rotation takes about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side facing the Sun has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other side has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the Sun appears to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in the east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in the west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is really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who are moving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5074920"/>
            <a:ext cx="5715000" cy="1143000"/>
          </a:xfrm>
          <a:prstGeom prst="roundRect">
            <a:avLst>
              <a:gd name="adj" fmla="val 9600"/>
            </a:avLst>
          </a:prstGeom>
          <a:solidFill>
            <a:srgbClr val="0D1220">
              <a:alpha val="80000"/>
            </a:srgbClr>
          </a:solidFill>
          <a:ln w="15875">
            <a:solidFill>
              <a:srgbClr val="3E8A82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713232" y="5230368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5FD4C4"/>
          </a:solidFill>
          <a:ln>
            <a:solidFill>
              <a:srgbClr val="5FD4C4">
                <a:alpha val="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 FACT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783080" y="5193792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equator you are spinning around at about 1,670 km/h right now — you can't feel it because everything around you moves along with you!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02920" cy="310896"/>
          </a:xfrm>
          <a:prstGeom prst="roundRect">
            <a:avLst>
              <a:gd name="adj" fmla="val 41176"/>
            </a:avLst>
          </a:prstGeom>
          <a:solidFill>
            <a:srgbClr val="0D1220"/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70432" y="539496"/>
            <a:ext cx="219456" cy="914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81328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OF THE EARTH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Revolution — the </a:t>
            </a:r>
            <a:pPr indent="0" marL="0">
              <a:buNone/>
            </a:pPr>
            <a:r>
              <a:rPr lang="en-US" sz="29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changing night sky</a:t>
            </a:r>
            <a:endParaRPr lang="en-US" sz="2900" dirty="0"/>
          </a:p>
        </p:txBody>
      </p:sp>
      <p:sp>
        <p:nvSpPr>
          <p:cNvPr id="18" name="Shape 16"/>
          <p:cNvSpPr/>
          <p:nvPr/>
        </p:nvSpPr>
        <p:spPr>
          <a:xfrm>
            <a:off x="6537960" y="1600200"/>
            <a:ext cx="5074920" cy="4434840"/>
          </a:xfrm>
          <a:prstGeom prst="roundRect">
            <a:avLst>
              <a:gd name="adj" fmla="val 3299"/>
            </a:avLst>
          </a:prstGeom>
          <a:solidFill>
            <a:srgbClr val="0D1220"/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38060" y="2628900"/>
            <a:ext cx="3474720" cy="2377440"/>
          </a:xfrm>
          <a:prstGeom prst="ellipse">
            <a:avLst/>
          </a:prstGeom>
          <a:solidFill>
            <a:srgbClr val="080B14">
              <a:alpha val="0"/>
            </a:srgbClr>
          </a:solidFill>
          <a:ln w="22225">
            <a:solidFill>
              <a:srgbClr val="5FD4C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782812" y="3525012"/>
            <a:ext cx="585216" cy="585216"/>
          </a:xfrm>
          <a:prstGeom prst="ellipse">
            <a:avLst/>
          </a:prstGeom>
          <a:solidFill>
            <a:srgbClr val="080B14">
              <a:alpha val="0"/>
            </a:srgbClr>
          </a:solidFill>
          <a:ln w="12700">
            <a:solidFill>
              <a:srgbClr val="B376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19972" y="3662172"/>
            <a:ext cx="310896" cy="310896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92540" y="2446020"/>
            <a:ext cx="365760" cy="365760"/>
          </a:xfrm>
          <a:prstGeom prst="ellipse">
            <a:avLst/>
          </a:prstGeom>
          <a:solidFill>
            <a:srgbClr val="1E5C8A"/>
          </a:solidFill>
          <a:ln w="12700">
            <a:solidFill>
              <a:srgbClr val="5FD4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629900" y="3634740"/>
            <a:ext cx="365760" cy="365760"/>
          </a:xfrm>
          <a:prstGeom prst="ellipse">
            <a:avLst/>
          </a:prstGeom>
          <a:solidFill>
            <a:srgbClr val="1E5C8A"/>
          </a:solidFill>
          <a:ln w="12700">
            <a:solidFill>
              <a:srgbClr val="5FD4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92540" y="4823460"/>
            <a:ext cx="365760" cy="365760"/>
          </a:xfrm>
          <a:prstGeom prst="ellipse">
            <a:avLst/>
          </a:prstGeom>
          <a:solidFill>
            <a:srgbClr val="1E5C8A"/>
          </a:solidFill>
          <a:ln w="12700">
            <a:solidFill>
              <a:srgbClr val="5FD4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55180" y="3634740"/>
            <a:ext cx="365760" cy="365760"/>
          </a:xfrm>
          <a:prstGeom prst="ellipse">
            <a:avLst/>
          </a:prstGeom>
          <a:solidFill>
            <a:srgbClr val="1E5C8A"/>
          </a:solidFill>
          <a:ln w="12700">
            <a:solidFill>
              <a:srgbClr val="5FD4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49740" y="251917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611612" y="407365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349740" y="49149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80860" y="343357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 rot="8100000">
            <a:off x="9944100" y="2857500"/>
            <a:ext cx="182880" cy="18288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80860" y="539038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365¼ DAYS · ONE FULL LAP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537960" y="6089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5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— FIG 12.8 · EARTH'S YEARLY JOURNEY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48640" y="1691640"/>
            <a:ext cx="5715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also moves around the Sun in a fixed path called its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is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revolution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revolution takes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365¼ days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Every 4 years, the extra ¼ days add up to make a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leap year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we journey around the Sun, we face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stars at night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different seasons — so the night sky slowly changes through the year.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Constellations like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Ursa Major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appear at different times of the year.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074920"/>
            <a:ext cx="5715000" cy="1143000"/>
          </a:xfrm>
          <a:prstGeom prst="roundRect">
            <a:avLst>
              <a:gd name="adj" fmla="val 9600"/>
            </a:avLst>
          </a:prstGeom>
          <a:solidFill>
            <a:srgbClr val="0D1220">
              <a:alpha val="80000"/>
            </a:srgbClr>
          </a:solidFill>
          <a:ln w="15875">
            <a:solidFill>
              <a:srgbClr val="3E8A82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713232" y="5230368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5FD4C4"/>
          </a:solidFill>
          <a:ln>
            <a:solidFill>
              <a:srgbClr val="5FD4C4">
                <a:alpha val="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 FACT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783080" y="5193792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races around the Sun at about 107,000 km/h — fast enough to circle our whole planet in just one minute!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02920" cy="310896"/>
          </a:xfrm>
          <a:prstGeom prst="roundRect">
            <a:avLst>
              <a:gd name="adj" fmla="val 41176"/>
            </a:avLst>
          </a:prstGeom>
          <a:solidFill>
            <a:srgbClr val="0D1220"/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70432" y="539496"/>
            <a:ext cx="219456" cy="914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81328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ON THE EARTH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do </a:t>
            </a:r>
            <a:pPr indent="0" marL="0">
              <a:buNone/>
            </a:pPr>
            <a:r>
              <a:rPr lang="en-US" sz="29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seasons</a:t>
            </a:r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happen?</a:t>
            </a:r>
            <a:endParaRPr lang="en-US" sz="2900" dirty="0"/>
          </a:p>
        </p:txBody>
      </p:sp>
      <p:sp>
        <p:nvSpPr>
          <p:cNvPr id="18" name="Shape 16"/>
          <p:cNvSpPr/>
          <p:nvPr/>
        </p:nvSpPr>
        <p:spPr>
          <a:xfrm>
            <a:off x="6537960" y="1600200"/>
            <a:ext cx="5074920" cy="4434840"/>
          </a:xfrm>
          <a:prstGeom prst="roundRect">
            <a:avLst>
              <a:gd name="adj" fmla="val 3299"/>
            </a:avLst>
          </a:prstGeom>
          <a:solidFill>
            <a:srgbClr val="0D1220"/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09460" y="2674620"/>
            <a:ext cx="1554480" cy="1554480"/>
          </a:xfrm>
          <a:prstGeom prst="ellipse">
            <a:avLst/>
          </a:prstGeom>
          <a:solidFill>
            <a:srgbClr val="1E5C8A"/>
          </a:solidFill>
          <a:ln w="19050">
            <a:solidFill>
              <a:srgbClr val="5FD4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09460" y="2674620"/>
            <a:ext cx="1554480" cy="1554480"/>
          </a:xfrm>
          <a:prstGeom prst="pie">
            <a:avLst>
              <a:gd name="adj1" fmla="val 10800000"/>
              <a:gd name="adj2" fmla="val 21600000"/>
            </a:avLst>
          </a:prstGeom>
          <a:solidFill>
            <a:srgbClr val="FFD98A">
              <a:alpha val="90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6900" y="2674620"/>
            <a:ext cx="1554480" cy="1554480"/>
          </a:xfrm>
          <a:prstGeom prst="ellipse">
            <a:avLst/>
          </a:prstGeom>
          <a:solidFill>
            <a:srgbClr val="1E5C8A"/>
          </a:solidFill>
          <a:ln w="19050">
            <a:solidFill>
              <a:srgbClr val="5FD4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86900" y="2674620"/>
            <a:ext cx="1554480" cy="1554480"/>
          </a:xfrm>
          <a:prstGeom prst="pie">
            <a:avLst>
              <a:gd name="adj1" fmla="val 10800000"/>
              <a:gd name="adj2" fmla="val 21600000"/>
            </a:avLst>
          </a:prstGeom>
          <a:solidFill>
            <a:srgbClr val="FFD98A">
              <a:alpha val="3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75804" y="2793492"/>
            <a:ext cx="621792" cy="1316736"/>
          </a:xfrm>
          <a:prstGeom prst="line">
            <a:avLst/>
          </a:prstGeom>
          <a:noFill/>
          <a:ln w="19050">
            <a:solidFill>
              <a:srgbClr val="F4EEE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530084" y="2747772"/>
            <a:ext cx="91440" cy="91440"/>
          </a:xfrm>
          <a:prstGeom prst="ellipse">
            <a:avLst/>
          </a:prstGeom>
          <a:solidFill>
            <a:srgbClr val="F4EEE0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9953244" y="2793492"/>
            <a:ext cx="621792" cy="1316736"/>
          </a:xfrm>
          <a:prstGeom prst="line">
            <a:avLst/>
          </a:prstGeom>
          <a:noFill/>
          <a:ln w="19050">
            <a:solidFill>
              <a:srgbClr val="F4EEE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0529316" y="2747772"/>
            <a:ext cx="91440" cy="91440"/>
          </a:xfrm>
          <a:prstGeom prst="ellipse">
            <a:avLst/>
          </a:prstGeom>
          <a:solidFill>
            <a:srgbClr val="F4EEE0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72300" y="43205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JUNE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89420" y="4585716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leans in · Summer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349740" y="43205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DECEMBER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66860" y="4585716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leans away · Winter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246620" y="502462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7A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TILT = 23.5°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46620" y="532638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tilt, all year long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537960" y="6089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5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— THE TILTED AXIS AT WORK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48640" y="1691640"/>
            <a:ext cx="5715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axis is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tilted at 23.5°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it always points the same way as we orbit.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Northern Hemisphere leans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Sun — sunlight is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concentrated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days are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It's summer!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it leans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rays spread out, days are shorter. Winter! Seasons are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Southern Hemisphere.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5074920"/>
            <a:ext cx="5715000" cy="1143000"/>
          </a:xfrm>
          <a:prstGeom prst="roundRect">
            <a:avLst>
              <a:gd name="adj" fmla="val 9600"/>
            </a:avLst>
          </a:prstGeom>
          <a:solidFill>
            <a:srgbClr val="0D1220">
              <a:alpha val="80000"/>
            </a:srgbClr>
          </a:solidFill>
          <a:ln w="15875">
            <a:solidFill>
              <a:srgbClr val="3E8A82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713232" y="5230368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5FD4C4"/>
          </a:solidFill>
          <a:ln>
            <a:solidFill>
              <a:srgbClr val="5FD4C4">
                <a:alpha val="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 FACT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783080" y="5193792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have nothing to do with our distance from the Sun — Earth is actually closest to the Sun in January, during the Northern Hemisphere's winter!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02920" cy="310896"/>
          </a:xfrm>
          <a:prstGeom prst="roundRect">
            <a:avLst>
              <a:gd name="adj" fmla="val 41176"/>
            </a:avLst>
          </a:prstGeom>
          <a:solidFill>
            <a:srgbClr val="0D1220"/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70432" y="539496"/>
            <a:ext cx="219456" cy="914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81328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COMPANION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Moon and its </a:t>
            </a:r>
            <a:pPr indent="0" marL="0">
              <a:buNone/>
            </a:pPr>
            <a:r>
              <a:rPr lang="en-US" sz="29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phases</a:t>
            </a:r>
            <a:endParaRPr lang="en-US" sz="2900" dirty="0"/>
          </a:p>
        </p:txBody>
      </p:sp>
      <p:sp>
        <p:nvSpPr>
          <p:cNvPr id="18" name="Shape 16"/>
          <p:cNvSpPr/>
          <p:nvPr/>
        </p:nvSpPr>
        <p:spPr>
          <a:xfrm>
            <a:off x="6537960" y="1600200"/>
            <a:ext cx="5074920" cy="4434840"/>
          </a:xfrm>
          <a:prstGeom prst="roundRect">
            <a:avLst>
              <a:gd name="adj" fmla="val 3299"/>
            </a:avLst>
          </a:prstGeom>
          <a:solidFill>
            <a:srgbClr val="0D1220"/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80860" y="21259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LUNAR MONTH · 29½ DAYS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64324" y="2729484"/>
            <a:ext cx="621792" cy="621792"/>
          </a:xfrm>
          <a:prstGeom prst="ellipse">
            <a:avLst/>
          </a:prstGeom>
          <a:solidFill>
            <a:srgbClr val="232A3A"/>
          </a:solidFill>
          <a:ln w="12700">
            <a:solidFill>
              <a:srgbClr val="E8E4D8"/>
            </a:solidFill>
            <a:prstDash val="sysDash"/>
          </a:ln>
        </p:spPr>
      </p:sp>
      <p:sp>
        <p:nvSpPr>
          <p:cNvPr id="21" name="Shape 19"/>
          <p:cNvSpPr/>
          <p:nvPr/>
        </p:nvSpPr>
        <p:spPr>
          <a:xfrm>
            <a:off x="8234172" y="2729484"/>
            <a:ext cx="621792" cy="621792"/>
          </a:xfrm>
          <a:prstGeom prst="ellipse">
            <a:avLst/>
          </a:prstGeom>
          <a:solidFill>
            <a:srgbClr val="E8E4D8"/>
          </a:solidFill>
          <a:ln w="9525">
            <a:solidFill>
              <a:srgbClr val="8E8B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34172" y="2729484"/>
            <a:ext cx="621792" cy="621792"/>
          </a:xfrm>
          <a:prstGeom prst="pie">
            <a:avLst>
              <a:gd name="adj1" fmla="val 3600000"/>
              <a:gd name="adj2" fmla="val 18000000"/>
            </a:avLst>
          </a:prstGeom>
          <a:solidFill>
            <a:srgbClr val="232A3A"/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4876" y="2729484"/>
            <a:ext cx="621792" cy="621792"/>
          </a:xfrm>
          <a:prstGeom prst="ellipse">
            <a:avLst/>
          </a:prstGeom>
          <a:solidFill>
            <a:srgbClr val="E8E4D8"/>
          </a:solidFill>
          <a:ln w="9525">
            <a:solidFill>
              <a:srgbClr val="8E8B9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94876" y="2729484"/>
            <a:ext cx="621792" cy="621792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232A3A"/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64724" y="2729484"/>
            <a:ext cx="621792" cy="621792"/>
          </a:xfrm>
          <a:prstGeom prst="ellipse">
            <a:avLst/>
          </a:prstGeom>
          <a:solidFill>
            <a:srgbClr val="E8E4D8"/>
          </a:solidFill>
          <a:ln w="9525">
            <a:solidFill>
              <a:srgbClr val="8E8B9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364724" y="2729484"/>
            <a:ext cx="621792" cy="621792"/>
          </a:xfrm>
          <a:prstGeom prst="pie">
            <a:avLst>
              <a:gd name="adj1" fmla="val 7200000"/>
              <a:gd name="adj2" fmla="val 14400000"/>
            </a:avLst>
          </a:prstGeom>
          <a:solidFill>
            <a:srgbClr val="232A3A"/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64324" y="4283964"/>
            <a:ext cx="621792" cy="621792"/>
          </a:xfrm>
          <a:prstGeom prst="ellipse">
            <a:avLst/>
          </a:prstGeom>
          <a:solidFill>
            <a:srgbClr val="E8E4D8"/>
          </a:solidFill>
          <a:ln w="9525">
            <a:solidFill>
              <a:srgbClr val="8E8B9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34172" y="4283964"/>
            <a:ext cx="621792" cy="621792"/>
          </a:xfrm>
          <a:prstGeom prst="ellipse">
            <a:avLst/>
          </a:prstGeom>
          <a:solidFill>
            <a:srgbClr val="E8E4D8"/>
          </a:solidFill>
          <a:ln w="9525">
            <a:solidFill>
              <a:srgbClr val="8E8B9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34172" y="4283964"/>
            <a:ext cx="621792" cy="621792"/>
          </a:xfrm>
          <a:prstGeom prst="pie">
            <a:avLst>
              <a:gd name="adj1" fmla="val 18000000"/>
              <a:gd name="adj2" fmla="val 3600000"/>
            </a:avLst>
          </a:prstGeom>
          <a:solidFill>
            <a:srgbClr val="232A3A"/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94876" y="4283964"/>
            <a:ext cx="621792" cy="621792"/>
          </a:xfrm>
          <a:prstGeom prst="ellipse">
            <a:avLst/>
          </a:prstGeom>
          <a:solidFill>
            <a:srgbClr val="E8E4D8"/>
          </a:solidFill>
          <a:ln w="9525">
            <a:solidFill>
              <a:srgbClr val="8E8B9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94876" y="4283964"/>
            <a:ext cx="621792" cy="62179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32A3A"/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364724" y="4283964"/>
            <a:ext cx="621792" cy="621792"/>
          </a:xfrm>
          <a:prstGeom prst="ellipse">
            <a:avLst/>
          </a:prstGeom>
          <a:solidFill>
            <a:srgbClr val="E8E4D8"/>
          </a:solidFill>
          <a:ln w="9525">
            <a:solidFill>
              <a:srgbClr val="8E8B9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64724" y="4283964"/>
            <a:ext cx="621792" cy="621792"/>
          </a:xfrm>
          <a:prstGeom prst="pie">
            <a:avLst>
              <a:gd name="adj1" fmla="val 14400000"/>
              <a:gd name="adj2" fmla="val 7200000"/>
            </a:avLst>
          </a:prstGeom>
          <a:solidFill>
            <a:srgbClr val="232A3A"/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72300" y="3442716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72300" y="4997196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042148" y="3442716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042148" y="4997196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Waning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9102852" y="3442716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Qtr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9102852" y="4997196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Qtr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172700" y="3442716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Gibbous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172700" y="4997196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537960" y="6089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5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— THE PHASE CYCLE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48640" y="1691640"/>
            <a:ext cx="5715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is Earth’s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satellite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has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light of its own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only reflects sunlight.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revolves around Earth in about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days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rotates at the same rate — so we always see the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face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Moon circles us, we see different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 portions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New Moon → Crescent → First Quarter → Full Moon → and back.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cycle of phases takes about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29½ days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roughly one month, or a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 month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48640" y="5074920"/>
            <a:ext cx="5715000" cy="1143000"/>
          </a:xfrm>
          <a:prstGeom prst="roundRect">
            <a:avLst>
              <a:gd name="adj" fmla="val 9600"/>
            </a:avLst>
          </a:prstGeom>
          <a:solidFill>
            <a:srgbClr val="0D1220">
              <a:alpha val="80000"/>
            </a:srgbClr>
          </a:solidFill>
          <a:ln w="15875">
            <a:solidFill>
              <a:srgbClr val="3E8A82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713232" y="5230368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5FD4C4"/>
          </a:solidFill>
          <a:ln>
            <a:solidFill>
              <a:srgbClr val="5FD4C4">
                <a:alpha val="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 FACT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783080" y="5193792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is slowly drifting away from Earth — about 3.8 cm every year, roughly the speed your fingernails grow!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02920" cy="310896"/>
          </a:xfrm>
          <a:prstGeom prst="roundRect">
            <a:avLst>
              <a:gd name="adj" fmla="val 41176"/>
            </a:avLst>
          </a:prstGeom>
          <a:solidFill>
            <a:srgbClr val="0D1220"/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70432" y="539496"/>
            <a:ext cx="219456" cy="914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81328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</a:t>
            </a:r>
            <a:pPr indent="0" marL="0">
              <a:buNone/>
            </a:pPr>
            <a:r>
              <a:rPr lang="en-US" sz="29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solar eclipse</a:t>
            </a:r>
            <a:endParaRPr lang="en-US" sz="2900" dirty="0"/>
          </a:p>
        </p:txBody>
      </p:sp>
      <p:sp>
        <p:nvSpPr>
          <p:cNvPr id="18" name="Shape 16"/>
          <p:cNvSpPr/>
          <p:nvPr/>
        </p:nvSpPr>
        <p:spPr>
          <a:xfrm>
            <a:off x="6537960" y="1600200"/>
            <a:ext cx="5074920" cy="4434840"/>
          </a:xfrm>
          <a:prstGeom prst="roundRect">
            <a:avLst>
              <a:gd name="adj" fmla="val 3299"/>
            </a:avLst>
          </a:prstGeom>
          <a:solidFill>
            <a:srgbClr val="0D1220"/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16852" y="3250692"/>
            <a:ext cx="1133856" cy="1133856"/>
          </a:xfrm>
          <a:prstGeom prst="ellipse">
            <a:avLst/>
          </a:prstGeom>
          <a:solidFill>
            <a:srgbClr val="080B14">
              <a:alpha val="0"/>
            </a:srgbClr>
          </a:solidFill>
          <a:ln w="12700">
            <a:solidFill>
              <a:srgbClr val="B3762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26580" y="3360420"/>
            <a:ext cx="914400" cy="914400"/>
          </a:xfrm>
          <a:prstGeom prst="ellipse">
            <a:avLst/>
          </a:prstGeom>
          <a:solidFill>
            <a:srgbClr val="FFB347"/>
          </a:solidFill>
          <a:ln w="19050">
            <a:solidFill>
              <a:srgbClr val="FF7A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868412" y="3131820"/>
            <a:ext cx="3355848" cy="411480"/>
          </a:xfrm>
          <a:prstGeom prst="line">
            <a:avLst/>
          </a:prstGeom>
          <a:noFill/>
          <a:ln w="15875">
            <a:solidFill>
              <a:srgbClr val="D99A4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8412" y="3817620"/>
            <a:ext cx="3355848" cy="914"/>
          </a:xfrm>
          <a:prstGeom prst="line">
            <a:avLst/>
          </a:prstGeom>
          <a:noFill/>
          <a:ln w="15875">
            <a:solidFill>
              <a:srgbClr val="D99A4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8412" y="4091940"/>
            <a:ext cx="3355848" cy="411480"/>
          </a:xfrm>
          <a:prstGeom prst="line">
            <a:avLst/>
          </a:prstGeom>
          <a:noFill/>
          <a:ln w="15875">
            <a:solidFill>
              <a:srgbClr val="D99A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8180" y="3543300"/>
            <a:ext cx="548640" cy="548640"/>
          </a:xfrm>
          <a:prstGeom prst="ellipse">
            <a:avLst/>
          </a:prstGeom>
          <a:solidFill>
            <a:srgbClr val="232A3A"/>
          </a:solidFill>
          <a:ln w="15875">
            <a:solidFill>
              <a:srgbClr val="E8E4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8865108" y="3433572"/>
            <a:ext cx="832104" cy="201168"/>
          </a:xfrm>
          <a:prstGeom prst="line">
            <a:avLst/>
          </a:prstGeom>
          <a:noFill/>
          <a:ln w="12700">
            <a:solidFill>
              <a:srgbClr val="5FD4C4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8865108" y="4000500"/>
            <a:ext cx="832104" cy="201168"/>
          </a:xfrm>
          <a:prstGeom prst="line">
            <a:avLst/>
          </a:prstGeom>
          <a:noFill/>
          <a:ln w="12700">
            <a:solidFill>
              <a:srgbClr val="5FD4C4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9624060" y="3360420"/>
            <a:ext cx="914400" cy="914400"/>
          </a:xfrm>
          <a:prstGeom prst="ellipse">
            <a:avLst/>
          </a:prstGeom>
          <a:solidFill>
            <a:srgbClr val="1E5C8A"/>
          </a:solidFill>
          <a:ln w="19050">
            <a:solidFill>
              <a:srgbClr val="5FD4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24060" y="3360420"/>
            <a:ext cx="914400" cy="914400"/>
          </a:xfrm>
          <a:prstGeom prst="ellipse">
            <a:avLst/>
          </a:prstGeom>
          <a:solidFill>
            <a:srgbClr val="05070D">
              <a:alpha val="80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01100" y="43205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109460" y="4439412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206740" y="420166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15500" y="4439412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80860" y="523494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→ MOON → EARTH · NEW MOON DAY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537960" y="6089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5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— MOON BLOCKS THE SUN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48640" y="1691640"/>
            <a:ext cx="5715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eclipse happens when the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Earth, Moon and Sun line up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straight line.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eclipse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Moon comes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Sun and Earth, casting its shadow on us. Day briefly turns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only happen on a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moon day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is visible only from parts of Earth inside the Moon's shadow.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48640" y="5074920"/>
            <a:ext cx="5715000" cy="1143000"/>
          </a:xfrm>
          <a:prstGeom prst="roundRect">
            <a:avLst>
              <a:gd name="adj" fmla="val 9600"/>
            </a:avLst>
          </a:prstGeom>
          <a:solidFill>
            <a:srgbClr val="0D1220">
              <a:alpha val="80000"/>
            </a:srgbClr>
          </a:solidFill>
          <a:ln w="15875">
            <a:solidFill>
              <a:srgbClr val="3E8A82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713232" y="5230368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5FD4C4"/>
          </a:solidFill>
          <a:ln>
            <a:solidFill>
              <a:srgbClr val="5FD4C4">
                <a:alpha val="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 FACT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783080" y="5193792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amazing coincidence, the Sun is about 400 times bigger than the Moon but also 400 times farther away — so they look the same size in our sky, making perfect eclipses possible!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02920" cy="310896"/>
          </a:xfrm>
          <a:prstGeom prst="roundRect">
            <a:avLst>
              <a:gd name="adj" fmla="val 41176"/>
            </a:avLst>
          </a:prstGeom>
          <a:solidFill>
            <a:srgbClr val="0D1220"/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70432" y="539496"/>
            <a:ext cx="219456" cy="914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81328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</a:t>
            </a:r>
            <a:pPr indent="0" marL="0">
              <a:buNone/>
            </a:pPr>
            <a:r>
              <a:rPr lang="en-US" sz="29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lunar eclipse</a:t>
            </a:r>
            <a:endParaRPr lang="en-US" sz="2900" dirty="0"/>
          </a:p>
        </p:txBody>
      </p:sp>
      <p:sp>
        <p:nvSpPr>
          <p:cNvPr id="18" name="Shape 16"/>
          <p:cNvSpPr/>
          <p:nvPr/>
        </p:nvSpPr>
        <p:spPr>
          <a:xfrm>
            <a:off x="6537960" y="1600200"/>
            <a:ext cx="5074920" cy="4434840"/>
          </a:xfrm>
          <a:prstGeom prst="roundRect">
            <a:avLst>
              <a:gd name="adj" fmla="val 3299"/>
            </a:avLst>
          </a:prstGeom>
          <a:solidFill>
            <a:srgbClr val="0D1220"/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17436" y="3488436"/>
            <a:ext cx="658368" cy="658368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12380" y="3698748"/>
            <a:ext cx="3566160" cy="914"/>
          </a:xfrm>
          <a:prstGeom prst="line">
            <a:avLst/>
          </a:prstGeom>
          <a:noFill/>
          <a:ln w="15875">
            <a:solidFill>
              <a:srgbClr val="D99A4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12380" y="3817620"/>
            <a:ext cx="3566160" cy="914"/>
          </a:xfrm>
          <a:prstGeom prst="line">
            <a:avLst/>
          </a:prstGeom>
          <a:noFill/>
          <a:ln w="15875">
            <a:solidFill>
              <a:srgbClr val="D99A4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12380" y="3936492"/>
            <a:ext cx="3566160" cy="914"/>
          </a:xfrm>
          <a:prstGeom prst="line">
            <a:avLst/>
          </a:prstGeom>
          <a:noFill/>
          <a:ln w="15875">
            <a:solidFill>
              <a:srgbClr val="D99A4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5300" y="3360420"/>
            <a:ext cx="914400" cy="914400"/>
          </a:xfrm>
          <a:prstGeom prst="ellipse">
            <a:avLst/>
          </a:prstGeom>
          <a:solidFill>
            <a:srgbClr val="1E5C8A"/>
          </a:solidFill>
          <a:ln w="19050">
            <a:solidFill>
              <a:srgbClr val="5FD4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80476" y="3607308"/>
            <a:ext cx="164592" cy="164592"/>
          </a:xfrm>
          <a:prstGeom prst="ellipse">
            <a:avLst/>
          </a:prstGeom>
          <a:solidFill>
            <a:srgbClr val="8AD6FF">
              <a:alpha val="60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9002268" y="3625596"/>
            <a:ext cx="850392" cy="36576"/>
          </a:xfrm>
          <a:prstGeom prst="line">
            <a:avLst/>
          </a:prstGeom>
          <a:noFill/>
          <a:ln w="12700">
            <a:solidFill>
              <a:srgbClr val="5FD4C4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002268" y="3973068"/>
            <a:ext cx="850392" cy="36576"/>
          </a:xfrm>
          <a:prstGeom prst="line">
            <a:avLst/>
          </a:prstGeom>
          <a:noFill/>
          <a:ln w="12700">
            <a:solidFill>
              <a:srgbClr val="5FD4C4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9834372" y="3570732"/>
            <a:ext cx="493776" cy="493776"/>
          </a:xfrm>
          <a:prstGeom prst="ellipse">
            <a:avLst/>
          </a:prstGeom>
          <a:solidFill>
            <a:srgbClr val="8A3B2E"/>
          </a:solidFill>
          <a:ln w="9525">
            <a:solidFill>
              <a:srgbClr val="E8E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578340" y="420166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reddish glow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972300" y="429310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06740" y="438454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852660" y="334213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880860" y="518922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→ EARTH → MOON · FULL MOON NIGHT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37960" y="6089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5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— EARTH'S SHADOW ON THE MOON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48640" y="1691640"/>
            <a:ext cx="5715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 eclipse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comes between the Sun and the Moon — the Moon passes into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shadow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Moon slowly darkens, and can even look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dull reddish-brown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("blood moon"), because some sunlight bends through Earth’s atmosphere.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happens only on a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moon night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is safe to watch with the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naked eye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lunar eclipse is visible from the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night side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Earth at once.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5074920"/>
            <a:ext cx="5715000" cy="1143000"/>
          </a:xfrm>
          <a:prstGeom prst="roundRect">
            <a:avLst>
              <a:gd name="adj" fmla="val 9600"/>
            </a:avLst>
          </a:prstGeom>
          <a:solidFill>
            <a:srgbClr val="0D1220">
              <a:alpha val="80000"/>
            </a:srgbClr>
          </a:solidFill>
          <a:ln w="15875">
            <a:solidFill>
              <a:srgbClr val="3E8A82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713232" y="5230368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5FD4C4"/>
          </a:solidFill>
          <a:ln>
            <a:solidFill>
              <a:srgbClr val="5FD4C4">
                <a:alpha val="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 FACT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783080" y="5193792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total lunar eclipse, the Moon can glow a coppery red — often called a "Blood Moon" — as sunlight bends through Earth’s atmosphere onto it.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02920" cy="310896"/>
          </a:xfrm>
          <a:prstGeom prst="roundRect">
            <a:avLst>
              <a:gd name="adj" fmla="val 41176"/>
            </a:avLst>
          </a:prstGeom>
          <a:solidFill>
            <a:srgbClr val="0D1220"/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70432" y="539496"/>
            <a:ext cx="219456" cy="914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81328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DEEPER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no eclipse </a:t>
            </a:r>
            <a:pPr indent="0" marL="0">
              <a:buNone/>
            </a:pPr>
            <a:r>
              <a:rPr lang="en-US" sz="29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month</a:t>
            </a:r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2900" dirty="0"/>
          </a:p>
        </p:txBody>
      </p:sp>
      <p:sp>
        <p:nvSpPr>
          <p:cNvPr id="18" name="Shape 16"/>
          <p:cNvSpPr/>
          <p:nvPr/>
        </p:nvSpPr>
        <p:spPr>
          <a:xfrm>
            <a:off x="6537960" y="1600200"/>
            <a:ext cx="5074920" cy="4434840"/>
          </a:xfrm>
          <a:prstGeom prst="roundRect">
            <a:avLst>
              <a:gd name="adj" fmla="val 3299"/>
            </a:avLst>
          </a:prstGeom>
          <a:solidFill>
            <a:srgbClr val="0D1220"/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18220" y="3360420"/>
            <a:ext cx="914400" cy="914400"/>
          </a:xfrm>
          <a:prstGeom prst="ellipse">
            <a:avLst/>
          </a:prstGeom>
          <a:solidFill>
            <a:srgbClr val="1E5C8A"/>
          </a:solidFill>
          <a:ln w="19050">
            <a:solidFill>
              <a:srgbClr val="5FD4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29500" y="3378708"/>
            <a:ext cx="3291840" cy="877824"/>
          </a:xfrm>
          <a:prstGeom prst="ellipse">
            <a:avLst/>
          </a:prstGeom>
          <a:solidFill>
            <a:srgbClr val="080B14">
              <a:alpha val="0"/>
            </a:srgbClr>
          </a:solidFill>
          <a:ln w="12700">
            <a:solidFill>
              <a:srgbClr val="6B6F85"/>
            </a:solidFill>
            <a:prstDash val="sysDash"/>
          </a:ln>
        </p:spPr>
      </p:sp>
      <p:sp>
        <p:nvSpPr>
          <p:cNvPr id="21" name="Shape 19"/>
          <p:cNvSpPr/>
          <p:nvPr/>
        </p:nvSpPr>
        <p:spPr>
          <a:xfrm rot="20640000">
            <a:off x="7429500" y="3378708"/>
            <a:ext cx="3291840" cy="877824"/>
          </a:xfrm>
          <a:prstGeom prst="ellipse">
            <a:avLst/>
          </a:prstGeom>
          <a:solidFill>
            <a:srgbClr val="080B14">
              <a:alpha val="0"/>
            </a:srgbClr>
          </a:solidFill>
          <a:ln w="22225">
            <a:solidFill>
              <a:srgbClr val="E8E4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20172" y="3223260"/>
            <a:ext cx="274320" cy="274320"/>
          </a:xfrm>
          <a:prstGeom prst="ellipse">
            <a:avLst/>
          </a:prstGeom>
          <a:solidFill>
            <a:srgbClr val="E8E4D8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56348" y="4137660"/>
            <a:ext cx="274320" cy="274320"/>
          </a:xfrm>
          <a:prstGeom prst="ellipse">
            <a:avLst/>
          </a:prstGeom>
          <a:solidFill>
            <a:srgbClr val="E8E4D8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43516" y="3534156"/>
            <a:ext cx="109728" cy="109728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97596" y="3991356"/>
            <a:ext cx="109728" cy="109728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08108" y="343357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722108" y="398221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880860" y="51160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Moon's orbit is TILTED ~5°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80860" y="535381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most new/full moons miss the line-up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537960" y="6089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5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— THE TILTED LUNAR ORBIT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48640" y="1691640"/>
            <a:ext cx="5715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Moon's orbit lay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same plane as Earth's orbit, we would see an eclipse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Moon's path is tilted about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5°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so most months the shadows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other.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Eclipses occur only when the line-up happens near the two crossing points, called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roughly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4–7 times a year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worldwide.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5074920"/>
            <a:ext cx="5715000" cy="1143000"/>
          </a:xfrm>
          <a:prstGeom prst="roundRect">
            <a:avLst>
              <a:gd name="adj" fmla="val 9600"/>
            </a:avLst>
          </a:prstGeom>
          <a:solidFill>
            <a:srgbClr val="0D1220">
              <a:alpha val="80000"/>
            </a:srgbClr>
          </a:solidFill>
          <a:ln w="15875">
            <a:solidFill>
              <a:srgbClr val="3E8A8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713232" y="5230368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5FD4C4"/>
          </a:solidFill>
          <a:ln>
            <a:solidFill>
              <a:srgbClr val="5FD4C4">
                <a:alpha val="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 FACT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783080" y="5193792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Ancient Babylonians predicted eclipses thousands of years ago using an 18-year, 11-day pattern called the "Saros cycle"!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02920" cy="310896"/>
          </a:xfrm>
          <a:prstGeom prst="roundRect">
            <a:avLst>
              <a:gd name="adj" fmla="val 41176"/>
            </a:avLst>
          </a:prstGeom>
          <a:solidFill>
            <a:srgbClr val="0D1220"/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70432" y="539496"/>
            <a:ext cx="219456" cy="914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81328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FASCINATING FACTS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 the </a:t>
            </a:r>
            <a:pPr indent="0" marL="0">
              <a:buNone/>
            </a:pPr>
            <a:r>
              <a:rPr lang="en-US" sz="29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 sky</a:t>
            </a:r>
            <a:endParaRPr lang="en-US" sz="2900" dirty="0"/>
          </a:p>
        </p:txBody>
      </p:sp>
      <p:sp>
        <p:nvSpPr>
          <p:cNvPr id="18" name="Shape 16"/>
          <p:cNvSpPr/>
          <p:nvPr/>
        </p:nvSpPr>
        <p:spPr>
          <a:xfrm>
            <a:off x="6537960" y="1600200"/>
            <a:ext cx="5074920" cy="4434840"/>
          </a:xfrm>
          <a:prstGeom prst="roundRect">
            <a:avLst>
              <a:gd name="adj" fmla="val 3299"/>
            </a:avLst>
          </a:prstGeom>
          <a:solidFill>
            <a:srgbClr val="0D1220"/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06056" y="2962656"/>
            <a:ext cx="64008" cy="64008"/>
          </a:xfrm>
          <a:prstGeom prst="ellipse">
            <a:avLst/>
          </a:prstGeom>
          <a:solidFill>
            <a:srgbClr val="F4EEE0">
              <a:alpha val="75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46136" y="2551176"/>
            <a:ext cx="64008" cy="64008"/>
          </a:xfrm>
          <a:prstGeom prst="ellipse">
            <a:avLst/>
          </a:prstGeom>
          <a:solidFill>
            <a:srgbClr val="F4EEE0">
              <a:alpha val="75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26296" y="4654296"/>
            <a:ext cx="64008" cy="64008"/>
          </a:xfrm>
          <a:prstGeom prst="ellipse">
            <a:avLst/>
          </a:prstGeom>
          <a:solidFill>
            <a:srgbClr val="F4EEE0">
              <a:alpha val="75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86416" y="4471416"/>
            <a:ext cx="64008" cy="64008"/>
          </a:xfrm>
          <a:prstGeom prst="ellipse">
            <a:avLst/>
          </a:prstGeom>
          <a:solidFill>
            <a:srgbClr val="F4EEE0">
              <a:alpha val="75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14616" y="4562856"/>
            <a:ext cx="64008" cy="64008"/>
          </a:xfrm>
          <a:prstGeom prst="ellipse">
            <a:avLst/>
          </a:prstGeom>
          <a:solidFill>
            <a:srgbClr val="F4EEE0">
              <a:alpha val="75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826496" y="4014216"/>
            <a:ext cx="64008" cy="64008"/>
          </a:xfrm>
          <a:prstGeom prst="ellipse">
            <a:avLst/>
          </a:prstGeom>
          <a:solidFill>
            <a:srgbClr val="F4EEE0">
              <a:alpha val="75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66176" y="4882896"/>
            <a:ext cx="64008" cy="64008"/>
          </a:xfrm>
          <a:prstGeom prst="ellipse">
            <a:avLst/>
          </a:prstGeom>
          <a:solidFill>
            <a:srgbClr val="F4EEE0">
              <a:alpha val="75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09376" y="3282696"/>
            <a:ext cx="64008" cy="64008"/>
          </a:xfrm>
          <a:prstGeom prst="ellipse">
            <a:avLst/>
          </a:prstGeom>
          <a:solidFill>
            <a:srgbClr val="F4EEE0">
              <a:alpha val="75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03820" y="3909060"/>
            <a:ext cx="137160" cy="411480"/>
          </a:xfrm>
          <a:prstGeom prst="line">
            <a:avLst/>
          </a:prstGeom>
          <a:noFill/>
          <a:ln w="12700">
            <a:solidFill>
              <a:srgbClr val="3E7A7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40980" y="4320540"/>
            <a:ext cx="731520" cy="64008"/>
          </a:xfrm>
          <a:prstGeom prst="line">
            <a:avLst/>
          </a:prstGeom>
          <a:noFill/>
          <a:ln w="12700">
            <a:solidFill>
              <a:srgbClr val="3E7A7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8572500" y="3927348"/>
            <a:ext cx="45720" cy="457200"/>
          </a:xfrm>
          <a:prstGeom prst="line">
            <a:avLst/>
          </a:prstGeom>
          <a:noFill/>
          <a:ln w="12700">
            <a:solidFill>
              <a:srgbClr val="3E7A7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703820" y="3909060"/>
            <a:ext cx="914400" cy="18288"/>
          </a:xfrm>
          <a:prstGeom prst="line">
            <a:avLst/>
          </a:prstGeom>
          <a:noFill/>
          <a:ln w="12700">
            <a:solidFill>
              <a:srgbClr val="3E7A7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8618220" y="3726180"/>
            <a:ext cx="411480" cy="201168"/>
          </a:xfrm>
          <a:prstGeom prst="line">
            <a:avLst/>
          </a:prstGeom>
          <a:noFill/>
          <a:ln w="12700">
            <a:solidFill>
              <a:srgbClr val="3E7A7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029700" y="3497580"/>
            <a:ext cx="411480" cy="228600"/>
          </a:xfrm>
          <a:prstGeom prst="line">
            <a:avLst/>
          </a:prstGeom>
          <a:noFill/>
          <a:ln w="12700">
            <a:solidFill>
              <a:srgbClr val="3E7A7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441180" y="3159252"/>
            <a:ext cx="320040" cy="338328"/>
          </a:xfrm>
          <a:prstGeom prst="line">
            <a:avLst/>
          </a:prstGeom>
          <a:noFill/>
          <a:ln w="12700">
            <a:solidFill>
              <a:srgbClr val="3E7A7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39812" y="3845052"/>
            <a:ext cx="128016" cy="128016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76972" y="4256532"/>
            <a:ext cx="128016" cy="128016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08492" y="4320540"/>
            <a:ext cx="128016" cy="128016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54212" y="3863340"/>
            <a:ext cx="128016" cy="128016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965692" y="3662172"/>
            <a:ext cx="128016" cy="128016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377172" y="3433572"/>
            <a:ext cx="128016" cy="128016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7212" y="3095244"/>
            <a:ext cx="128016" cy="128016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8590788" y="2830068"/>
            <a:ext cx="1874520" cy="1325880"/>
          </a:xfrm>
          <a:prstGeom prst="line">
            <a:avLst/>
          </a:prstGeom>
          <a:noFill/>
          <a:ln w="12700">
            <a:solidFill>
              <a:srgbClr val="FFB347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0447020" y="2537460"/>
            <a:ext cx="365760" cy="365760"/>
          </a:xfrm>
          <a:prstGeom prst="ellipse">
            <a:avLst/>
          </a:prstGeom>
          <a:solidFill>
            <a:srgbClr val="080B14">
              <a:alpha val="0"/>
            </a:srgbClr>
          </a:solidFill>
          <a:ln w="9525">
            <a:solidFill>
              <a:srgbClr val="F4EE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547604" y="2638044"/>
            <a:ext cx="164592" cy="164592"/>
          </a:xfrm>
          <a:prstGeom prst="ellipse">
            <a:avLst/>
          </a:prstGeom>
          <a:solidFill>
            <a:srgbClr val="F4EEE0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126980" y="23362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 STAR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880860" y="518922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SAPTARSHI · THE BIG BEAR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37960" y="6089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5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— STARS AS A SKY-MAP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48640" y="1691640"/>
            <a:ext cx="5715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stars forming patterns are called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constellations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like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Saptarshi (Ursa Major)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Great Bear with seven bright stars.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Pole Star (Dhruva Tara)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stays fixed in the north and has guided travellers for thousands of years.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Fascinating fact: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India, the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Bhil and Pawara tribes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Maharashtra use the position of stars to mark the arrival of the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monsoon rains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Stars are huge, far-away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they only seem tiny and twinkling because of their great distance.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48640" y="5074920"/>
            <a:ext cx="5715000" cy="1143000"/>
          </a:xfrm>
          <a:prstGeom prst="roundRect">
            <a:avLst>
              <a:gd name="adj" fmla="val 9600"/>
            </a:avLst>
          </a:prstGeom>
          <a:solidFill>
            <a:srgbClr val="0D1220">
              <a:alpha val="80000"/>
            </a:srgbClr>
          </a:solidFill>
          <a:ln w="15875">
            <a:solidFill>
              <a:srgbClr val="3E8A82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713232" y="5230368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5FD4C4"/>
          </a:solidFill>
          <a:ln>
            <a:solidFill>
              <a:srgbClr val="5FD4C4">
                <a:alpha val="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 FACT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783080" y="5193792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from the nearest star after our Sun — Proxima Centauri — takes over 4 years to reach Earth. We see it as it was 4 years ago!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02920" cy="310896"/>
          </a:xfrm>
          <a:prstGeom prst="roundRect">
            <a:avLst>
              <a:gd name="adj" fmla="val 41176"/>
            </a:avLst>
          </a:prstGeom>
          <a:solidFill>
            <a:srgbClr val="0D1220"/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70432" y="539496"/>
            <a:ext cx="219456" cy="914"/>
          </a:xfrm>
          <a:prstGeom prst="line">
            <a:avLst/>
          </a:prstGeom>
          <a:noFill/>
          <a:ln w="1905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81328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 SAFE SCIENTIST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 an eclipse </a:t>
            </a:r>
            <a:pPr indent="0" marL="0">
              <a:buNone/>
            </a:pPr>
            <a:r>
              <a:rPr lang="en-US" sz="29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safely</a:t>
            </a:r>
            <a:endParaRPr lang="en-US" sz="2900" dirty="0"/>
          </a:p>
        </p:txBody>
      </p:sp>
      <p:sp>
        <p:nvSpPr>
          <p:cNvPr id="18" name="Shape 16"/>
          <p:cNvSpPr/>
          <p:nvPr/>
        </p:nvSpPr>
        <p:spPr>
          <a:xfrm>
            <a:off x="6537960" y="1600200"/>
            <a:ext cx="5074920" cy="4434840"/>
          </a:xfrm>
          <a:prstGeom prst="roundRect">
            <a:avLst>
              <a:gd name="adj" fmla="val 3299"/>
            </a:avLst>
          </a:prstGeom>
          <a:solidFill>
            <a:srgbClr val="0D1220"/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64324" y="3506724"/>
            <a:ext cx="621792" cy="621792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75220" y="3342132"/>
            <a:ext cx="914" cy="109728"/>
          </a:xfrm>
          <a:prstGeom prst="line">
            <a:avLst/>
          </a:prstGeom>
          <a:noFill/>
          <a:ln w="25400">
            <a:solidFill>
              <a:srgbClr val="FFB34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5220" y="4183380"/>
            <a:ext cx="914" cy="109728"/>
          </a:xfrm>
          <a:prstGeom prst="line">
            <a:avLst/>
          </a:prstGeom>
          <a:noFill/>
          <a:ln w="25400">
            <a:solidFill>
              <a:srgbClr val="FFB34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45452" y="3817620"/>
            <a:ext cx="109728" cy="914"/>
          </a:xfrm>
          <a:prstGeom prst="line">
            <a:avLst/>
          </a:prstGeom>
          <a:noFill/>
          <a:ln w="25400">
            <a:solidFill>
              <a:srgbClr val="FFB34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95260" y="3643884"/>
            <a:ext cx="1133856" cy="173736"/>
          </a:xfrm>
          <a:prstGeom prst="line">
            <a:avLst/>
          </a:prstGeom>
          <a:noFill/>
          <a:ln w="19050">
            <a:solidFill>
              <a:srgbClr val="FFD98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95260" y="3817620"/>
            <a:ext cx="1133856" cy="914"/>
          </a:xfrm>
          <a:prstGeom prst="line">
            <a:avLst/>
          </a:prstGeom>
          <a:noFill/>
          <a:ln w="19050">
            <a:solidFill>
              <a:srgbClr val="FFD9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795260" y="3817620"/>
            <a:ext cx="1133856" cy="173736"/>
          </a:xfrm>
          <a:prstGeom prst="line">
            <a:avLst/>
          </a:prstGeom>
          <a:noFill/>
          <a:ln w="19050">
            <a:solidFill>
              <a:srgbClr val="FFD9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83980" y="3040380"/>
            <a:ext cx="1645920" cy="1554480"/>
          </a:xfrm>
          <a:prstGeom prst="roundRect">
            <a:avLst>
              <a:gd name="adj" fmla="val 4706"/>
            </a:avLst>
          </a:prstGeom>
          <a:solidFill>
            <a:srgbClr val="161D2E"/>
          </a:solidFill>
          <a:ln w="19050">
            <a:solidFill>
              <a:srgbClr val="E8E4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8929116" y="3396996"/>
            <a:ext cx="1216152" cy="420624"/>
          </a:xfrm>
          <a:prstGeom prst="line">
            <a:avLst/>
          </a:prstGeom>
          <a:noFill/>
          <a:ln w="19050">
            <a:solidFill>
              <a:srgbClr val="FFD9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29116" y="3817620"/>
            <a:ext cx="1216152" cy="914"/>
          </a:xfrm>
          <a:prstGeom prst="line">
            <a:avLst/>
          </a:prstGeom>
          <a:noFill/>
          <a:ln w="19050">
            <a:solidFill>
              <a:srgbClr val="FFD9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29116" y="3817620"/>
            <a:ext cx="1216152" cy="420624"/>
          </a:xfrm>
          <a:prstGeom prst="line">
            <a:avLst/>
          </a:prstGeom>
          <a:noFill/>
          <a:ln w="19050">
            <a:solidFill>
              <a:srgbClr val="FFD98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42832" y="3776472"/>
            <a:ext cx="82296" cy="82296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89820" y="3543300"/>
            <a:ext cx="548640" cy="548640"/>
          </a:xfrm>
          <a:prstGeom prst="ellipse">
            <a:avLst/>
          </a:prstGeom>
          <a:solidFill>
            <a:srgbClr val="FFB347">
              <a:alpha val="12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90404" y="3643884"/>
            <a:ext cx="347472" cy="347472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90404" y="3643884"/>
            <a:ext cx="347472" cy="347472"/>
          </a:xfrm>
          <a:prstGeom prst="ellipse">
            <a:avLst/>
          </a:prstGeom>
          <a:solidFill>
            <a:srgbClr val="080B14">
              <a:alpha val="0"/>
            </a:srgbClr>
          </a:solidFill>
          <a:ln w="19050">
            <a:solidFill>
              <a:srgbClr val="FFE2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38260" y="4421124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INVERTED IMAGE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166860" y="471373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PINHOLE CAMERA BOX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880860" y="51160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NEVER look at the Sun directly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880860" y="537210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Use pinhole projection or certified filters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537960" y="6089904"/>
            <a:ext cx="5074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25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— PINHOLE PROJECTION METHOD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48640" y="1691640"/>
            <a:ext cx="57150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 at the Sun directly — not with naked eyes, sunglasses, X-ray films or cameras. It can permanently damage your eyes.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methods: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pinhole projection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specially made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 glasses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(certified filters), or welding glass of shade 14.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lunar eclipse</a:t>
            </a:r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completely safe to watch directly — no filters needed!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48640" y="5074920"/>
            <a:ext cx="5715000" cy="1143000"/>
          </a:xfrm>
          <a:prstGeom prst="roundRect">
            <a:avLst>
              <a:gd name="adj" fmla="val 9600"/>
            </a:avLst>
          </a:prstGeom>
          <a:solidFill>
            <a:srgbClr val="0D1220">
              <a:alpha val="80000"/>
            </a:srgbClr>
          </a:solidFill>
          <a:ln w="15875">
            <a:solidFill>
              <a:srgbClr val="3E8A82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713232" y="5230368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5FD4C4"/>
          </a:solidFill>
          <a:ln>
            <a:solidFill>
              <a:srgbClr val="5FD4C4">
                <a:alpha val="0"/>
              </a:srgbClr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 FACT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783080" y="5193792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D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Pinhole viewers were used by ancient astronomers over 2,000 years ago — a simple, safe idea older than the telescope itself!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</a:t>
            </a:r>
            <a:pPr indent="0" marL="0">
              <a:buNone/>
            </a:pPr>
            <a:r>
              <a:rPr lang="en-US" sz="34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126480" y="621792"/>
            <a:ext cx="5513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 1 · ROUND &amp; ROUND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1298448"/>
            <a:ext cx="11091672" cy="914"/>
          </a:xfrm>
          <a:prstGeom prst="line">
            <a:avLst/>
          </a:prstGeom>
          <a:noFill/>
          <a:ln w="12700">
            <a:solidFill>
              <a:srgbClr val="2328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1600200"/>
            <a:ext cx="5376672" cy="4526280"/>
          </a:xfrm>
          <a:prstGeom prst="roundRect">
            <a:avLst>
              <a:gd name="adj" fmla="val 3232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1801368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01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210312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does the Earth take to complete one rotation on its axis?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297180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One year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37033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 24 hours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22960" y="44348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One month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" y="51663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365¼ days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600200"/>
            <a:ext cx="5376672" cy="4526280"/>
          </a:xfrm>
          <a:prstGeom prst="roundRect">
            <a:avLst>
              <a:gd name="adj" fmla="val 3232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1801368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02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210312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appears to rise in the east and set in the west because: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537960" y="297180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Sun revolves around the Earth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37960" y="37033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Sun rotates around the Moon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37960" y="44348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Earth rotates from west to east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51663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Clouds move the Sun across the sky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995928" y="647395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PLAY MODE — CLICK AN ANSWER TO CHECK IT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</a:t>
            </a:r>
            <a:pPr indent="0" marL="0">
              <a:buNone/>
            </a:pPr>
            <a:r>
              <a:rPr lang="en-US" sz="34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126480" y="621792"/>
            <a:ext cx="5513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 2 · SEASONS &amp; MOON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1298448"/>
            <a:ext cx="11091672" cy="914"/>
          </a:xfrm>
          <a:prstGeom prst="line">
            <a:avLst/>
          </a:prstGeom>
          <a:noFill/>
          <a:ln w="12700">
            <a:solidFill>
              <a:srgbClr val="2328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1600200"/>
            <a:ext cx="5376672" cy="4526280"/>
          </a:xfrm>
          <a:prstGeom prst="roundRect">
            <a:avLst>
              <a:gd name="adj" fmla="val 3232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1801368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210312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on the Earth are mainly caused by: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297180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Earth getting closer to the Sun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37033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23.5° tilt of Earth’s axis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22960" y="44348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Moon’s pull on the Earth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" y="51663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Changes in the Sun’s size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600200"/>
            <a:ext cx="5376672" cy="4526280"/>
          </a:xfrm>
          <a:prstGeom prst="roundRect">
            <a:avLst>
              <a:gd name="adj" fmla="val 3232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1801368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210312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shines brightly in our sky because: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537960" y="297180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 burns gases like the Sun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37960" y="37033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 makes its own light at night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37960" y="44348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 reflects light from the Sun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51663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Earth shines light onto it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995928" y="647395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PLAY MODE — CLICK AN ANSWER TO CHECK IT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84048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</a:t>
            </a:r>
            <a:pPr indent="0" marL="0">
              <a:buNone/>
            </a:pPr>
            <a:r>
              <a:rPr lang="en-US" sz="34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126480" y="621792"/>
            <a:ext cx="55138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 3 · ECLIPSES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1298448"/>
            <a:ext cx="11091672" cy="914"/>
          </a:xfrm>
          <a:prstGeom prst="line">
            <a:avLst/>
          </a:prstGeom>
          <a:noFill/>
          <a:ln w="12700">
            <a:solidFill>
              <a:srgbClr val="2328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1600200"/>
            <a:ext cx="5376672" cy="4526280"/>
          </a:xfrm>
          <a:prstGeom prst="roundRect">
            <a:avLst>
              <a:gd name="adj" fmla="val 3232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1801368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210312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solar eclipse, which body is between the other two?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297180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Earth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37033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Sun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22960" y="44348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Moon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" y="51663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Pole Star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600200"/>
            <a:ext cx="5376672" cy="4526280"/>
          </a:xfrm>
          <a:prstGeom prst="roundRect">
            <a:avLst>
              <a:gd name="adj" fmla="val 3232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1801368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06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210312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statement about watching eclipses is TRUE?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537960" y="297180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Sunglasses are safe for a solar eclipse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37960" y="37033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lunar eclipse is safe to watch directly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37960" y="44348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solar eclipse is safe with naked eyes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51663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u="sng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    </a:t>
            </a:r>
            <a:pPr algn="l" indent="0" marL="0">
              <a:buNone/>
            </a:pPr>
            <a:r>
              <a:rPr lang="en-US" sz="1250" u="sng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action="ppaction://hlinksldjump" tooltip="Check this answe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 eclipse can ever be watched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995928" y="647395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PLAY MODE — CLICK AN ANSWER TO CHECK IT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does the Earth take to complete one rotation on its axis?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24 hours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365¼ days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B — About 24 hours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does the Earth take to complete one rotation on its axis?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24 hours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365¼ days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Correct! Well done.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✔ RIGHT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24 hours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does the Earth take to complete one rotation on its axis?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24 hours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365¼ days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B — About 24 hours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does the Earth take to complete one rotation on its axis?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year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24 hours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365¼ days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B — About 24 hours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365¼ days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appears to rise in the east and set in the west because: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revolves around the Earth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rotates around the Moon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rotates from west to east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 move the Sun across the sky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C — The Earth rotates from west to east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revolves around the Earth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appears to rise in the east and set in the west because: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revolves around the Earth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rotates around the Moon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rotates from west to east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 move the Sun across the sky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C — The Earth rotates from west to east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rotates around the Moon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appears to rise in the east and set in the west because: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revolves around the Earth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rotates around the Moon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rotates from west to east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 move the Sun across the sky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Correct! Well done.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✔ RIGHT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rotates from west to east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appears to rise in the east and set in the west because: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revolves around the Earth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rotates around the Moon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rotates from west to east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 move the Sun across the sky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C — The Earth rotates from west to east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 move the Sun across the sky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on the Earth are mainly caused by: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getting closer to the Sun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23.5° tilt of Earth’s axis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Moon’s pull on the Earth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the Sun’s size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B — The 23.5° tilt of Earth’s axis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getting closer to the Sun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on the Earth are mainly caused by: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getting closer to the Sun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23.5° tilt of Earth’s axis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Moon’s pull on the Earth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the Sun’s size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Correct! Well done.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✔ RIGHT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23.5° tilt of Earth’s axis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on the Earth are mainly caused by: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getting closer to the Sun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23.5° tilt of Earth’s axis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Moon’s pull on the Earth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the Sun’s size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B — The 23.5° tilt of Earth’s axis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Moon’s pull on the Earth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on the Earth are mainly caused by: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getting closer to the Sun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23.5° tilt of Earth’s axis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Moon’s pull on the Earth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the Sun’s size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B — The 23.5° tilt of Earth’s axis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the Sun’s size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shines brightly in our sky because: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burns gases like the Sun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its own light at night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reflects light from the Sun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shines light onto it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C — It reflects light from the Sun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burns gases like the Sun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shines brightly in our sky because: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burns gases like the Sun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its own light at night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reflects light from the Sun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shines light onto it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C — It reflects light from the Sun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its own light at night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Q04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shines brightly in our sky because: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burns gases like the Sun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its own light at night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reflects light from the Sun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shines light onto it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Correct! Well done.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✔ RIGHT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reflects light from the Sun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 shines brightly in our sky because: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burns gases like the Sun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its own light at night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reflects light from the Sun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shines light onto it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C — It reflects light from the Sun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shines light onto 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Q04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solar eclipse, which body is between the other two?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Pole Star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C — The Moon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Q05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solar eclipse, which body is between the other two?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Pole Star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C — The Moon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Q05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solar eclipse, which body is between the other two?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Pole Star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Correct! Well done.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✔ RIGHT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Q05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solar eclipse, which body is between the other two?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Pole Star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C — The Moon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Pole Star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Q05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5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06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statement about watching eclipses is TRUE?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Sunglasses are safe for a solar eclipse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lunar eclipse is safe to watch directly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solar eclipse is safe with naked eyes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eclipse can ever be watched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B — A lunar eclipse is safe to watch directly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Sunglasses are safe for a solar eclipse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Q06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6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06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statement about watching eclipses is TRUE?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Sunglasses are safe for a solar eclipse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lunar eclipse is safe to watch directly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solar eclipse is safe with naked eyes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eclipse can ever be watched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Correct! Well done.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✔ RIGHT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lunar eclipse is safe to watch directly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4ADE8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4ADE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06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statement about watching eclipses is TRUE?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Sunglasses are safe for a solar eclipse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lunar eclipse is safe to watch directly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solar eclipse is safe with naked eyes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eclipse can ever be watched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B — A lunar eclipse is safe to watch directly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solar eclipse is safe with naked eyes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Q06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8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822960"/>
            <a:ext cx="5376672" cy="5120640"/>
          </a:xfrm>
          <a:prstGeom prst="roundRect">
            <a:avLst>
              <a:gd name="adj" fmla="val 2857"/>
            </a:avLst>
          </a:prstGeom>
          <a:solidFill>
            <a:srgbClr val="0D1220">
              <a:alpha val="65000"/>
            </a:srgbClr>
          </a:solidFill>
          <a:ln w="12700">
            <a:solidFill>
              <a:srgbClr val="23283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960120"/>
            <a:ext cx="4828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06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1234440"/>
            <a:ext cx="48280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statement about watching eclipses is TRUE?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210312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Sunglasses are safe for a solar eclipse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283464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4ADE80"/>
          </a:solidFill>
          <a:ln w="12700">
            <a:solidFill>
              <a:srgbClr val="4ADE80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lunar eclipse is safe to watch directly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3A3F52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 </a:t>
            </a:r>
            <a:pPr algn="l" indent="0" marL="0">
              <a:buNone/>
            </a:pPr>
            <a:r>
              <a:rPr lang="en-US" sz="125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solar eclipse is safe with naked eyes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2960" y="4297680"/>
            <a:ext cx="4828032" cy="585216"/>
          </a:xfrm>
          <a:prstGeom prst="roundRect">
            <a:avLst>
              <a:gd name="adj" fmla="val 14063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 </a:t>
            </a:r>
            <a:pPr algn="l" indent="0" marL="0">
              <a:buNone/>
            </a:pPr>
            <a:r>
              <a:rPr lang="en-US" sz="1250" dirty="0">
                <a:solidFill>
                  <a:srgbClr val="08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eclipse can ever be watched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5166360"/>
            <a:ext cx="4828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Not quite! The answer is B — A lunar eclipse is safe to watch directly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75120" y="868680"/>
            <a:ext cx="1737360" cy="365760"/>
          </a:xfrm>
          <a:prstGeom prst="roundRect">
            <a:avLst>
              <a:gd name="adj" fmla="val 22500"/>
            </a:avLst>
          </a:prstGeom>
          <a:solidFill>
            <a:srgbClr val="FF5C6C"/>
          </a:solidFill>
          <a:ln w="1270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0B1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✘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1325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eclipse can ever be watched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another answer or go back 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228600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FF5C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FF5C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action="ppaction://hlinksldjump" tooltip="Back to quiz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BACK TO THE QUIZ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75120" y="2926080"/>
            <a:ext cx="2743200" cy="502920"/>
          </a:xfrm>
          <a:prstGeom prst="roundRect">
            <a:avLst>
              <a:gd name="adj" fmla="val 21818"/>
            </a:avLst>
          </a:prstGeom>
          <a:solidFill>
            <a:srgbClr val="0D1220"/>
          </a:solidFill>
          <a:ln w="19050">
            <a:solidFill>
              <a:srgbClr val="5FD4C4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5FD4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2" action="ppaction://hlinksldjump" tooltip="Next ques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· Q06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8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19" y="89154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38339" y="42519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4920" y="589788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45176" y="12344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08180" y="507492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27349" y="4800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4187" y="32918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439" y="582930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6775" y="1508760"/>
            <a:ext cx="36576" cy="36576"/>
          </a:xfrm>
          <a:prstGeom prst="ellipse">
            <a:avLst/>
          </a:prstGeom>
          <a:solidFill>
            <a:srgbClr val="FFB347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277" y="3977640"/>
            <a:ext cx="36576" cy="36576"/>
          </a:xfrm>
          <a:prstGeom prst="ellipse">
            <a:avLst/>
          </a:prstGeom>
          <a:solidFill>
            <a:srgbClr val="5FD4C4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95848" y="260604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3675" y="2880360"/>
            <a:ext cx="36576" cy="36576"/>
          </a:xfrm>
          <a:prstGeom prst="ellipse">
            <a:avLst/>
          </a:prstGeom>
          <a:solidFill>
            <a:srgbClr val="F4EEE0">
              <a:alpha val="65000"/>
            </a:srgbClr>
          </a:solidFill>
          <a:ln w="1270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93185" y="5577840"/>
            <a:ext cx="4206240" cy="4206240"/>
          </a:xfrm>
          <a:prstGeom prst="ellipse">
            <a:avLst/>
          </a:prstGeom>
          <a:solidFill>
            <a:srgbClr val="FF8A3D">
              <a:alpha val="45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96105" y="6080760"/>
            <a:ext cx="3200400" cy="3200400"/>
          </a:xfrm>
          <a:prstGeom prst="ellipse">
            <a:avLst/>
          </a:prstGeom>
          <a:solidFill>
            <a:srgbClr val="FF8A3D">
              <a:alpha val="65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99025" y="6583680"/>
            <a:ext cx="2194560" cy="2194560"/>
          </a:xfrm>
          <a:prstGeom prst="ellipse">
            <a:avLst/>
          </a:prstGeom>
          <a:solidFill>
            <a:srgbClr val="FFB347">
              <a:alpha val="82000"/>
            </a:srgbClr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56225" y="7040880"/>
            <a:ext cx="1280160" cy="1280160"/>
          </a:xfrm>
          <a:prstGeom prst="ellipse">
            <a:avLst/>
          </a:prstGeom>
          <a:solidFill>
            <a:srgbClr val="FFB347"/>
          </a:solidFill>
          <a:ln w="1270">
            <a:solidFill>
              <a:srgbClr val="080B14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19456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4EE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</a:t>
            </a:r>
            <a:pPr algn="ctr" indent="0" marL="0">
              <a:buNone/>
            </a:pPr>
            <a:r>
              <a:rPr lang="en-US" sz="6600" b="1" dirty="0">
                <a:solidFill>
                  <a:srgbClr val="FFB3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</a:t>
            </a:r>
            <a:endParaRPr lang="en-US" sz="6600" dirty="0"/>
          </a:p>
        </p:txBody>
      </p:sp>
      <p:sp>
        <p:nvSpPr>
          <p:cNvPr id="19" name="Text 17"/>
          <p:cNvSpPr/>
          <p:nvPr/>
        </p:nvSpPr>
        <p:spPr>
          <a:xfrm>
            <a:off x="548640" y="38862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8E8B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EARTH, MOON AND THE SUN · ABL · KEEP LOOKING UP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· EARTH, MOON &amp; THE SUN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058400" y="6492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B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Earth, Moon and the Sun (ABL)</dc:title>
  <dc:subject>PptxGenJS Presentation</dc:subject>
  <dc:creator>PptxGenJS</dc:creator>
  <cp:lastModifiedBy>PptxGenJS</cp:lastModifiedBy>
  <cp:revision>1</cp:revision>
  <dcterms:created xsi:type="dcterms:W3CDTF">2026-08-25T15:31:51Z</dcterms:created>
  <dcterms:modified xsi:type="dcterms:W3CDTF">2026-08-25T15:31:51Z</dcterms:modified>
</cp:coreProperties>
</file>